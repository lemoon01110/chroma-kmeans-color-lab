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OPENGATE · WEEK 3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5156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ECE7DC"/>
                </a:solidFill>
                <a:latin typeface="Calibri"/>
              </a:rPr>
              <a:t>Two kinds of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9C968A"/>
                </a:solidFill>
                <a:latin typeface="Calibri"/>
              </a:rPr>
              <a:t>Your first two machine-learning models — and the one question that tells them apart.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0789920" cy="164592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D0C7"/>
                </a:solidFill>
                <a:latin typeface="Calibri"/>
              </a:rPr>
              <a:t>Today you will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1   See colors appear with no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5488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2   Meet supervised KNN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07492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3   Meet unsupervised K-Means (Chroma Lab)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WEEK 3 ·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One model family a 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377440"/>
            <a:ext cx="265176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2603F"/>
                </a:solidFill>
                <a:latin typeface="Calibri"/>
              </a:rPr>
              <a:t>DAY 1 ·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22860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Two simple models
KNN + K-Means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377440"/>
            <a:ext cx="265176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60604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DAY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200400"/>
            <a:ext cx="22860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CNN · vision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377440"/>
            <a:ext cx="265176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DAY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00400"/>
            <a:ext cx="22860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Embeddings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2377440"/>
            <a:ext cx="265176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60604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DAY 4–5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200400"/>
            <a:ext cx="22860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Build &amp; present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WATCH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Where did these colors come from?</a:t>
            </a:r>
          </a:p>
        </p:txBody>
      </p:sp>
      <p:pic>
        <p:nvPicPr>
          <p:cNvPr id="4" name="Picture 3" descr="kmeans-dots-ring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852160" cy="3657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0" y="2286000"/>
            <a:ext cx="4937760" cy="365760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2468880"/>
            <a:ext cx="4572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ECE7DC"/>
                </a:solidFill>
                <a:latin typeface="Calibri"/>
              </a:rPr>
              <a:t>“I never told it which colors.
It found them.”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749039"/>
            <a:ext cx="4572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68A"/>
                </a:solidFill>
                <a:latin typeface="Calibri"/>
              </a:rPr>
              <a:t>Each dot = one pixel (an RGB recipe: Red, Green, Blue)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C968A"/>
                </a:solidFill>
                <a:latin typeface="Calibri"/>
              </a:rPr>
              <a:t>Each ring = a color it’s discovering (a “mean” / flag in color space)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4FD0C7"/>
                </a:solidFill>
                <a:latin typeface="Calibri"/>
              </a:rPr>
              <a:t>Hold that mystery — we’ll name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THE POINT OF 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A computer found structure
without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CE7DC"/>
                </a:solidFill>
                <a:latin typeface="Calibri"/>
              </a:rPr>
              <a:t>Nobody labeled “sky blue” or “sand.” The program only used distance between pixel colors.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4FD0C7"/>
                </a:solidFill>
                <a:latin typeface="Calibri"/>
              </a:rPr>
              <a:t>That’s a model: a rule learned from data — not typed by a human.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SO — WHAT IS A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A function you didn’t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560320"/>
            <a:ext cx="512064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0" y="2560320"/>
            <a:ext cx="512064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YOU KNOW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91840"/>
            <a:ext cx="46634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CE7DC"/>
                </a:solidFill>
                <a:latin typeface="Calibri"/>
              </a:rPr>
              <a:t>f(x) = 2x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68A"/>
                </a:solidFill>
                <a:latin typeface="Calibri"/>
              </a:rPr>
              <a:t>A human wrote the rule.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2743200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2603F"/>
                </a:solidFill>
                <a:latin typeface="Calibri"/>
              </a:rPr>
              <a:t>A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3291840"/>
            <a:ext cx="46634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CE7DC"/>
                </a:solidFill>
                <a:latin typeface="Calibri"/>
              </a:rPr>
              <a:t>fθ(x) = ?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68A"/>
                </a:solidFill>
                <a:latin typeface="Calibri"/>
              </a:rPr>
              <a:t>Nobody wrote the full rule —
it tuned its own knobs from examples.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WRITE THIS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Learned rule, not written rule.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5156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C968A"/>
                </a:solidFill>
                <a:latin typeface="Calibri"/>
              </a:rPr>
              <a:t>If a human typed every if/else, that’s a program.
If data moved the knobs, that’s a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WHERE THESE MODELS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Three nested circles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377440"/>
            <a:ext cx="10789920" cy="91440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14600"/>
            <a:ext cx="3657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9C968A"/>
                </a:solidFill>
                <a:latin typeface="Calibri"/>
              </a:rPr>
              <a:t>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514600"/>
            <a:ext cx="64008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Anything that seems smart.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10789920" cy="91440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3657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603F"/>
                </a:solidFill>
                <a:latin typeface="Calibri"/>
              </a:rP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566160"/>
            <a:ext cx="64008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Learns from data.  ← today is here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480560"/>
            <a:ext cx="10789920" cy="91440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3657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9C968A"/>
                </a:solidFill>
                <a:latin typeface="Calibri"/>
              </a:rPr>
              <a:t>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617720"/>
            <a:ext cx="64008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Neural nets. Not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TWO KINDS — ONE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“Did the data come with the answers?”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651760"/>
            <a:ext cx="5212080" cy="301752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0" y="2651760"/>
            <a:ext cx="5212080" cy="301752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475488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CC47F"/>
                </a:solidFill>
                <a:latin typeface="Calibri"/>
              </a:rPr>
              <a:t>YES → SUPERVISED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Labeled examples. Learn to predict the answer.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68A"/>
                </a:solidFill>
                <a:latin typeface="Calibri"/>
              </a:rPr>
              <a:t>Example: spam / not spam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834640"/>
            <a:ext cx="475488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4FD0C7"/>
                </a:solidFill>
                <a:latin typeface="Calibri"/>
              </a:rPr>
              <a:t>NO → UNSUPERVISED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No answers attached. Find the structure yourself.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68A"/>
                </a:solidFill>
                <a:latin typeface="Calibri"/>
              </a:rPr>
              <a:t>Example: discover color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CALL IT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Which kind?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789920" cy="7772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Spam filter trained on marked emails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468880"/>
            <a:ext cx="2743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600" b="1">
                <a:solidFill>
                  <a:srgbClr val="5CC47F"/>
                </a:solidFill>
                <a:latin typeface="Calibri"/>
              </a:rPr>
              <a:t>SUPERVISED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4680"/>
            <a:ext cx="10789920" cy="7772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7315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Group shoppers — no categories given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337560"/>
            <a:ext cx="2743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600" b="1">
                <a:solidFill>
                  <a:srgbClr val="4FD0C7"/>
                </a:solidFill>
                <a:latin typeface="Calibri"/>
              </a:rPr>
              <a:t>UNSUPERVISED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23360"/>
            <a:ext cx="10789920" cy="7772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7315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Predict tomorrow’s temp from past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206240"/>
            <a:ext cx="2743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600" b="1">
                <a:solidFill>
                  <a:srgbClr val="5CC47F"/>
                </a:solidFill>
                <a:latin typeface="Calibri"/>
              </a:rPr>
              <a:t>SUPERVISED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92039"/>
            <a:ext cx="10789920" cy="7772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74919"/>
            <a:ext cx="7315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Sort camera roll into look-alike piles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074919"/>
            <a:ext cx="2743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600" b="1">
                <a:solidFill>
                  <a:srgbClr val="4FD0C7"/>
                </a:solidFill>
                <a:latin typeface="Calibri"/>
              </a:rPr>
              <a:t>UNSUPERVISED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WHAT BOTH MODELS SHARE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Turn things into dots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D0C7"/>
                </a:solidFill>
                <a:latin typeface="Calibri"/>
              </a:rPr>
              <a:t>Close together = similar.   Far apart = different.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17520"/>
            <a:ext cx="5212080" cy="256032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3017520"/>
            <a:ext cx="5212080" cy="256032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46120"/>
            <a:ext cx="4754880" cy="2103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CE7DC"/>
                </a:solidFill>
                <a:latin typeface="Calibri"/>
              </a:rPr>
              <a:t>Student → (hours of sleep, cups of coffee)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68A"/>
                </a:solidFill>
                <a:latin typeface="Calibri"/>
              </a:rPr>
              <a:t>Two numbers = a point on a graph.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3246120"/>
            <a:ext cx="4754880" cy="2103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CE7DC"/>
                </a:solidFill>
                <a:latin typeface="Calibri"/>
              </a:rPr>
              <a:t>Pixel → (R, G, B)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68A"/>
                </a:solidFill>
                <a:latin typeface="Calibri"/>
              </a:rPr>
              <a:t>Three dials 0–255 = a point in color 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MODEL 1 · 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K-Nearest Neighbors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C968A"/>
                </a:solidFill>
                <a:latin typeface="Calibri"/>
              </a:rPr>
              <a:t>Let the neighbors vote.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MODEL 1 · 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KNN — “you are the company you keep”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CE7DC"/>
                </a:solidFill>
                <a:latin typeface="Calibri"/>
              </a:rPr>
              <a:t>A new dot takes the majority label of its K nearest neighbors.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5212080" cy="23774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3200400"/>
            <a:ext cx="5212080" cy="23774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83280"/>
            <a:ext cx="47548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603F"/>
                </a:solidFill>
                <a:latin typeface="Calibri"/>
              </a:rPr>
              <a:t>Small K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68A"/>
                </a:solidFill>
                <a:latin typeface="Calibri"/>
              </a:rPr>
              <a:t>Only the closest few vote. Jumpy — one weird neighbor can flip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3383280"/>
            <a:ext cx="47548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Large K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68A"/>
                </a:solidFill>
                <a:latin typeface="Calibri"/>
              </a:rPr>
              <a:t>A wider vote. Smoother — but distant dots get a say.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CHECK-IN · AT YOUR SEAT · ~3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KNN on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331720"/>
            <a:ext cx="10789920" cy="7772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14600"/>
            <a:ext cx="5486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603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532888"/>
            <a:ext cx="9509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Sketch 8–10 dots. Label half A, half B (the answers).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10789920" cy="7772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5486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603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47288"/>
            <a:ext cx="9509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Mark a new mystery dot. Circle its K=3 nearest neighbors — majority wins.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10789920" cy="7772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5486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603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361688"/>
            <a:ext cx="9509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Widen to K=7. Did the vote flip? 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C968A"/>
                </a:solidFill>
                <a:latin typeface="Calibri"/>
              </a:rPr>
              <a:t>In the wild: “Customers like you also bought…”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MODEL 2 · UNSUPERVISED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K-Means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C968A"/>
                </a:solidFill>
                <a:latin typeface="Calibri"/>
              </a:rPr>
              <a:t>Discover the groups. No labels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MODEL 2 · UNSUPERVISED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K-Means — discover the groups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468880"/>
            <a:ext cx="2697480" cy="310896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2331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603F"/>
                </a:solidFill>
                <a:latin typeface="Calibri"/>
              </a:rPr>
              <a:t>1  Guess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23317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Drop K markers (flags) at random.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468880"/>
            <a:ext cx="2697480" cy="310896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697480"/>
            <a:ext cx="2331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2  Assign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474720"/>
            <a:ext cx="23317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Each dot joins its nearest marker.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468880"/>
            <a:ext cx="2697480" cy="310896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697480"/>
            <a:ext cx="2331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3 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474720"/>
            <a:ext cx="23317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Markers slide to the middle of their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2468880"/>
            <a:ext cx="2697480" cy="310896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697480"/>
            <a:ext cx="2331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4  Converge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474720"/>
            <a:ext cx="23317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Repeat 2→3 until they barely move.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WORKED EXAMPLE · 6 PIXELS · K =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K-Means, by hand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286000"/>
            <a:ext cx="274320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2468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① GUESS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24688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7DC"/>
                </a:solidFill>
                <a:latin typeface="Calibri"/>
              </a:rPr>
              <a:t>Two markers in dumb spots.
μ₁ (50,50,50)
μ₂ (255,255,255)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86000"/>
            <a:ext cx="274320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423160"/>
            <a:ext cx="2468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② ASSIGN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926080"/>
            <a:ext cx="24688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7DC"/>
                </a:solidFill>
                <a:latin typeface="Calibri"/>
              </a:rPr>
              <a:t>Each pixel joins the nearer marker.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86000"/>
            <a:ext cx="274320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423160"/>
            <a:ext cx="2468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③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926080"/>
            <a:ext cx="24688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7DC"/>
                </a:solidFill>
                <a:latin typeface="Calibri"/>
              </a:rPr>
              <a:t>Marker = average of its pixels.
μ₁ (30,60,183)
μ₂ (230,200,123)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2286000"/>
            <a:ext cx="2743200" cy="292608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2423160"/>
            <a:ext cx="2468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④ CONVERGE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2926080"/>
            <a:ext cx="24688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7DC"/>
                </a:solidFill>
                <a:latin typeface="Calibri"/>
              </a:rPr>
              <a:t>Reassign — nothing moves.
Done. That’s the palette.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94960"/>
            <a:ext cx="10515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FD0C7"/>
                </a:solidFill>
                <a:latin typeface="Calibri"/>
              </a:rPr>
              <a:t>Nobody labeled “blue” or “sand” — distance alone found them. That’s unsupervised.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LIVE TOOL · THE MYSTERY,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Chroma — K-Means Color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C968A"/>
                </a:solidFill>
                <a:latin typeface="Calibri"/>
              </a:rPr>
              <a:t>Open on your laptop: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697480"/>
            <a:ext cx="10789920" cy="77724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10332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D0C7"/>
                </a:solidFill>
                <a:latin typeface="Calibri"/>
              </a:rPr>
              <a:t>lemoon01110.github.io/chroma-kmeans-color-lab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1   Load a photo (or tap a demo)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799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2   Drag K — watch bands appear / soften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80559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3   Flip RGB ↔ LAB — same pixels, different “near”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19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4   Read the palette the loop discovered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YOUR TURN · WITH A PARTNER · ~10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Pick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331720"/>
            <a:ext cx="5212080" cy="320040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0" y="2331720"/>
            <a:ext cx="5212080" cy="320040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475488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603F"/>
                </a:solidFill>
                <a:latin typeface="Calibri"/>
              </a:rPr>
              <a:t>A · KNN on paper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7DC"/>
                </a:solidFill>
                <a:latin typeface="Calibri"/>
              </a:rPr>
              <a:t>Finish the neighbor sketch. One sentence: your two features, and what changed when you widened 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514600"/>
            <a:ext cx="475488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B · Chroma Lab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7DC"/>
                </a:solidFill>
                <a:latin typeface="Calibri"/>
              </a:rPr>
              <a:t>Run the color tool on a photo. Lowest K that still looks right — which colors, and why those?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515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9C968A"/>
                </a:solidFill>
                <a:latin typeface="Calibri"/>
              </a:rPr>
              <a:t>Then both: supervised or unsupervised? How do you know?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C968A"/>
                </a:solidFill>
                <a:latin typeface="Calibr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Two models, one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468880"/>
            <a:ext cx="3566160" cy="301752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PROJECT 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32004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One idea “dots + distance” could power. I’m collecting these for Thursday.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19" y="2468880"/>
            <a:ext cx="3566160" cy="301752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269748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TOMORROW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3291840"/>
            <a:ext cx="32004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Same dots — but the machine invents the features. CNNs.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59" y="2468880"/>
            <a:ext cx="3566160" cy="3017520"/>
          </a:xfrm>
          <a:prstGeom prst="rect">
            <a:avLst/>
          </a:prstGeom>
          <a:solidFill>
            <a:srgbClr val="1A1C19"/>
          </a:solidFill>
          <a:ln w="12700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39" y="269748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39" y="3291840"/>
            <a:ext cx="32004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“How did the computer pick those colors, if nobody told it which?”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