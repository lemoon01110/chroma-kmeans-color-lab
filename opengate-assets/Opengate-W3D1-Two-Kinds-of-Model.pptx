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OPENGATE · WEEK 3 · DAY 1 · ONLINE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ECE7DC"/>
                </a:solidFill>
                <a:latin typeface="Calibri"/>
              </a:rPr>
              <a:t>Two kinds of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9C968A"/>
                </a:solidFill>
                <a:latin typeface="Calibri"/>
              </a:rPr>
              <a:t>An online laptop activity for middle school — you click, drag, and watch.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10881360" cy="1965960"/>
          </a:xfrm>
          <a:prstGeom prst="rect">
            <a:avLst/>
          </a:prstGeom>
          <a:solidFill>
            <a:srgbClr val="1A1C19"/>
          </a:solidFill>
          <a:ln w="15875">
            <a:solidFill>
              <a:srgbClr val="F26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832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603F"/>
                </a:solidFill>
                <a:latin typeface="Calibri"/>
              </a:rPr>
              <a:t>HOW TODAY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ECE7DC"/>
                </a:solidFill>
                <a:latin typeface="Calibri"/>
              </a:rPr>
              <a:t>1.  Stay on your laptop or Chromebook the whole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ECE7DC"/>
                </a:solidFill>
                <a:latin typeface="Calibri"/>
              </a:rPr>
              <a:t>2.  We learn two ideas: KNN (with answers) and K-Means (no answers).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ECE7DC"/>
                </a:solidFill>
                <a:latin typeface="Calibri"/>
              </a:rPr>
              <a:t>3.  You will open Chroma Lab in your browser and try it yourself.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BEFORE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CE7DC"/>
                </a:solidFill>
                <a:latin typeface="Calibri"/>
              </a:rPr>
              <a:t>This is an ONLINE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C968A"/>
                </a:solidFill>
                <a:latin typeface="Calibri"/>
              </a:rPr>
              <a:t>No floor games. No standing up. Everything happens in your browser.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3566160" cy="219456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D0C7"/>
                </a:solidFill>
                <a:latin typeface="Calibri"/>
              </a:rPr>
              <a:t>1  Open a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7DC"/>
                </a:solidFill>
                <a:latin typeface="Calibri"/>
              </a:rPr>
              <a:t>Chrome or Edge is fine.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19" y="2468880"/>
            <a:ext cx="3566160" cy="219456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2697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D0C7"/>
                </a:solidFill>
                <a:latin typeface="Calibri"/>
              </a:rPr>
              <a:t>2  Type the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3383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7DC"/>
                </a:solidFill>
                <a:latin typeface="Calibri"/>
              </a:rPr>
              <a:t>Copy it carefully — or ask for it in chat.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2468880"/>
            <a:ext cx="3566160" cy="219456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2697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D0C7"/>
                </a:solidFill>
                <a:latin typeface="Calibri"/>
              </a:rPr>
              <a:t>3  Keep this tab 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3383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7DC"/>
                </a:solidFill>
                <a:latin typeface="Calibri"/>
              </a:rPr>
              <a:t>You will use it for the rest of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Your link (bookmark it):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solidFill>
            <a:srgbClr val="1A1C19"/>
          </a:solidFill>
          <a:ln w="15875">
            <a:solidFill>
              <a:srgbClr val="4F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FD0C7"/>
                </a:solidFill>
                <a:latin typeface="Calibri"/>
              </a:rPr>
              <a:t>lemoon01110.github.io/chroma-kmeans-color-lab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WEEK 3 ·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ECE7DC"/>
                </a:solidFill>
                <a:latin typeface="Calibri"/>
              </a:rPr>
              <a:t>One model family a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2697480" cy="320040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423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603F"/>
                </a:solidFill>
                <a:latin typeface="Calibri"/>
              </a:rPr>
              <a:t>DAY 1 ·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08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Two simple models
KNN + K-Means
(online lab)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194560"/>
            <a:ext cx="2697480" cy="320040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2423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DAY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3108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CNN · vision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94560"/>
            <a:ext cx="2697480" cy="320040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423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DAY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108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Embeddings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194560"/>
            <a:ext cx="2697480" cy="320040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2423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DAY 4–5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3108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Build &amp; present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WATCH THIS · ON THE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ECE7DC"/>
                </a:solidFill>
                <a:latin typeface="Calibri"/>
              </a:rPr>
              <a:t>Where did these colors come from?</a:t>
            </a:r>
          </a:p>
        </p:txBody>
      </p:sp>
      <p:pic>
        <p:nvPicPr>
          <p:cNvPr id="4" name="Picture 3" descr="kmeans-dots-ring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58368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1691640"/>
            <a:ext cx="4846320" cy="411480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96596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CE7DC"/>
                </a:solidFill>
                <a:latin typeface="Calibri"/>
              </a:rPr>
              <a:t>“I never told it which colors.
It found them.”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329184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C968A"/>
                </a:solidFill>
                <a:latin typeface="Calibri"/>
              </a:rPr>
              <a:t>Each DOT = one pixel (Red, Green, Blue mix).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C968A"/>
                </a:solidFill>
                <a:latin typeface="Calibri"/>
              </a:rPr>
              <a:t>Each RING = a color the computer is finding.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4FD0C7"/>
                </a:solidFill>
                <a:latin typeface="Calibri"/>
              </a:rPr>
              <a:t>You will do this same idea online in Chroma Lab.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THE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ECE7DC"/>
                </a:solidFill>
                <a:latin typeface="Calibri"/>
              </a:rPr>
              <a:t>A computer found a pattern
without any answer key.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ECE7DC"/>
                </a:solidFill>
                <a:latin typeface="Calibri"/>
              </a:rPr>
              <a:t>Nobody labeled “sky blue” or “sand.”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ECE7DC"/>
                </a:solidFill>
                <a:latin typeface="Calibri"/>
              </a:rPr>
              <a:t>It only measured: which colors are close together?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4FD0C7"/>
                </a:solidFill>
                <a:latin typeface="Calibri"/>
              </a:rPr>
              <a:t>That learned rule is called a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SO — WHAT IS A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E7DC"/>
                </a:solidFill>
                <a:latin typeface="Calibri"/>
              </a:rPr>
              <a:t>A rule the computer learned — not one a human typed.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5212080" cy="347472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0" y="2011680"/>
            <a:ext cx="5212080" cy="347472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NORMAL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ECE7DC"/>
                </a:solidFill>
                <a:latin typeface="Calibri"/>
              </a:rPr>
              <a:t>f(x) = 2x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9C968A"/>
                </a:solidFill>
                <a:latin typeface="Calibri"/>
              </a:rPr>
              <a:t>A human wrote every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603F"/>
                </a:solidFill>
                <a:latin typeface="Calibri"/>
              </a:rPr>
              <a:t>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926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ECE7DC"/>
                </a:solidFill>
                <a:latin typeface="Calibri"/>
              </a:rPr>
              <a:t>fθ(x) = ?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9C968A"/>
                </a:solidFill>
                <a:latin typeface="Calibri"/>
              </a:rPr>
              <a:t>Data moved the knobs. Nobody wrote the full rule.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WRITE THIS IN YOUR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CE7DC"/>
                </a:solidFill>
                <a:latin typeface="Calibri"/>
              </a:rPr>
              <a:t>Learned rule ≠ written rule.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9C968A"/>
                </a:solidFill>
                <a:latin typeface="Calibri"/>
              </a:rPr>
              <a:t>If a human typed every if/else → that’s a program.
If data moved the knobs → that’s a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WHERE TODAY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ECE7DC"/>
                </a:solidFill>
                <a:latin typeface="Calibri"/>
              </a:rPr>
              <a:t>Three nested circles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C968A"/>
                </a:solidFill>
                <a:latin typeface="Calibri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Anything that seems smart.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54680"/>
            <a:ext cx="10881360" cy="100584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2603F"/>
                </a:solidFill>
                <a:latin typeface="Calibri"/>
              </a:rP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429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Learns from data.  ← we are here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97680"/>
            <a:ext cx="10881360" cy="100584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C968A"/>
                </a:solidFill>
                <a:latin typeface="Calibri"/>
              </a:rPr>
              <a:t>Deep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Neural nets. Not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TWO KINDS — ONE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ECE7DC"/>
                </a:solidFill>
                <a:latin typeface="Calibri"/>
              </a:rPr>
              <a:t>Did the data come with the answers?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5212080" cy="347472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0" y="2103120"/>
            <a:ext cx="5212080" cy="347472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5CC47F"/>
                </a:solidFill>
                <a:latin typeface="Calibri"/>
              </a:rPr>
              <a:t>YES → SUPERVISED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ECE7DC"/>
                </a:solidFill>
                <a:latin typeface="Calibri"/>
              </a:rPr>
              <a:t>Examples already have the right answer.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9C968A"/>
                </a:solidFill>
                <a:latin typeface="Calibri"/>
              </a:rPr>
              <a:t>Today’s example: KNN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C968A"/>
                </a:solidFill>
                <a:latin typeface="Calibri"/>
              </a:rPr>
              <a:t>Real life: spam / not spam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33172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FD0C7"/>
                </a:solidFill>
                <a:latin typeface="Calibri"/>
              </a:rPr>
              <a:t>NO → UNSUPERVISED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ECE7DC"/>
                </a:solidFill>
                <a:latin typeface="Calibri"/>
              </a:rPr>
              <a:t>No answer key. Find the groups yourself.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9C968A"/>
                </a:solidFill>
                <a:latin typeface="Calibri"/>
              </a:rPr>
              <a:t>Today’s example: K-Means (Chroma Lab)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C968A"/>
                </a:solidFill>
                <a:latin typeface="Calibri"/>
              </a:rPr>
              <a:t>Real life: discover color groups in a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SAY IT OUT 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ECE7DC"/>
                </a:solidFill>
                <a:latin typeface="Calibri"/>
              </a:rPr>
              <a:t>Supervised or unsupervised?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2996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Spam filter trained on marked emails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0299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5CC47F"/>
                </a:solidFill>
                <a:latin typeface="Calibri"/>
              </a:rPr>
              <a:t>SUPERVISED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10881360" cy="82296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9008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Group shoppers — no categories given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900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4FD0C7"/>
                </a:solidFill>
                <a:latin typeface="Calibri"/>
              </a:rPr>
              <a:t>UNSUPERVISED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49040"/>
            <a:ext cx="10881360" cy="82296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Predict tomorrow’s temp from past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9502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5CC47F"/>
                </a:solidFill>
                <a:latin typeface="Calibri"/>
              </a:rPr>
              <a:t>SUPERVISED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1032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Sort a camera roll into look-alike piles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9103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1">
                <a:solidFill>
                  <a:srgbClr val="4FD0C7"/>
                </a:solidFill>
                <a:latin typeface="Calibri"/>
              </a:rPr>
              <a:t>UNSUPERVISED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WHAT BOTH MODELS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ECE7DC"/>
                </a:solidFill>
                <a:latin typeface="Calibri"/>
              </a:rPr>
              <a:t>Turn things into dots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FD0C7"/>
                </a:solidFill>
                <a:latin typeface="Calibri"/>
              </a:rPr>
              <a:t>Close together = similar.   Far apart = different.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5212080" cy="301752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2468880"/>
            <a:ext cx="5212080" cy="301752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2603F"/>
                </a:solidFill>
                <a:latin typeface="Calibri"/>
              </a:rPr>
              <a:t>Idea for KNN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ECE7DC"/>
                </a:solidFill>
                <a:latin typeface="Calibri"/>
              </a:rPr>
              <a:t>Student → (hours of sleep, cups of coffee)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9C968A"/>
                </a:solidFill>
                <a:latin typeface="Calibri"/>
              </a:rPr>
              <a:t>Two numbers = a point on a graph.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74320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D0C7"/>
                </a:solidFill>
                <a:latin typeface="Calibri"/>
              </a:rPr>
              <a:t>Idea for K-Means (online)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ECE7DC"/>
                </a:solidFill>
                <a:latin typeface="Calibri"/>
              </a:rPr>
              <a:t>Pixel → (R, G, B)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9C968A"/>
                </a:solidFill>
                <a:latin typeface="Calibri"/>
              </a:rPr>
              <a:t>Three dials 0–255 = a point in color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MODEL 1 · SUPERVISED · QUICK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ECE7DC"/>
                </a:solidFill>
                <a:latin typeface="Calibri"/>
              </a:rPr>
              <a:t>K-Nearest Neighbors (KNN)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ECE7DC"/>
                </a:solidFill>
                <a:latin typeface="Calibri"/>
              </a:rPr>
              <a:t>A new dot copies the majority label of its K closest neighbors.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5212080" cy="292608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2560320"/>
            <a:ext cx="5212080" cy="292608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2603F"/>
                </a:solidFill>
                <a:latin typeface="Calibri"/>
              </a:rPr>
              <a:t>Small K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9C968A"/>
                </a:solidFill>
                <a:latin typeface="Calibri"/>
              </a:rPr>
              <a:t>Only a few neighbors vote. Jumpy — one weird neighbor can flip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83464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FD0C7"/>
                </a:solidFill>
                <a:latin typeface="Calibri"/>
              </a:rPr>
              <a:t>Large K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9C968A"/>
                </a:solidFill>
                <a:latin typeface="Calibri"/>
              </a:rPr>
              <a:t>More neighbors vote. Smoother — but far-away dots get a say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MODEL 2 · UNSUPERVISED · YOUR ONLINE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ECE7DC"/>
                </a:solidFill>
                <a:latin typeface="Calibri"/>
              </a:rPr>
              <a:t>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9C968A"/>
                </a:solidFill>
                <a:latin typeface="Calibri"/>
              </a:rPr>
              <a:t>Discover the groups. No labels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D0C7"/>
                </a:solidFill>
                <a:latin typeface="Calibri"/>
              </a:rPr>
              <a:t>This is what you will run in the browser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THE LOOP YOU WILL SEE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ECE7DC"/>
                </a:solidFill>
                <a:latin typeface="Calibri"/>
              </a:rPr>
              <a:t>K-Means in 4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2697480" cy="347472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2603F"/>
                </a:solidFill>
                <a:latin typeface="Calibri"/>
              </a:rPr>
              <a:t>1  Guess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200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7DC"/>
                </a:solidFill>
                <a:latin typeface="Calibri"/>
              </a:rPr>
              <a:t>Drop K color markers at random.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011680"/>
            <a:ext cx="2697480" cy="347472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D0C7"/>
                </a:solidFill>
                <a:latin typeface="Calibri"/>
              </a:rPr>
              <a:t>2  Assign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3200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7DC"/>
                </a:solidFill>
                <a:latin typeface="Calibri"/>
              </a:rPr>
              <a:t>Each pixel joins the nearest marker.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2697480" cy="347472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D0C7"/>
                </a:solidFill>
                <a:latin typeface="Calibri"/>
              </a:rPr>
              <a:t>3 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200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7DC"/>
                </a:solidFill>
                <a:latin typeface="Calibri"/>
              </a:rPr>
              <a:t>Markers move to the middle of their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011680"/>
            <a:ext cx="2697480" cy="347472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FD0C7"/>
                </a:solidFill>
                <a:latin typeface="Calibri"/>
              </a:rPr>
              <a:t>4  Converge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32004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7DC"/>
                </a:solidFill>
                <a:latin typeface="Calibri"/>
              </a:rPr>
              <a:t>Repeat 2→3 until they barely move.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TINY EXAMPLE · THEN YOU DO THE REAL ONE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CE7DC"/>
                </a:solidFill>
                <a:latin typeface="Calibri"/>
              </a:rPr>
              <a:t>K-Means by hand (6 pixels, K =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2788920" cy="338328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2603F"/>
                </a:solidFill>
                <a:latin typeface="Calibri"/>
              </a:rPr>
              <a:t>① GUESS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86000"/>
            <a:ext cx="2514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CE7DC"/>
                </a:solidFill>
                <a:latin typeface="Calibri"/>
              </a:rPr>
              <a:t>Two markers in dumb spots.
μ₁ (50,50,50)
μ₂ (255,255,255)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554480"/>
            <a:ext cx="2788920" cy="338328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737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2603F"/>
                </a:solidFill>
                <a:latin typeface="Calibri"/>
              </a:rPr>
              <a:t>② ASSIGN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286000"/>
            <a:ext cx="2514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CE7DC"/>
                </a:solidFill>
                <a:latin typeface="Calibri"/>
              </a:rPr>
              <a:t>Each pixel joins the nearer marker.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2788920" cy="338328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2603F"/>
                </a:solidFill>
                <a:latin typeface="Calibri"/>
              </a:rPr>
              <a:t>③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2514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CE7DC"/>
                </a:solidFill>
                <a:latin typeface="Calibri"/>
              </a:rPr>
              <a:t>Marker = average of its pixels.
μ₁ (30,60,183)
μ₂ (230,200,123)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554480"/>
            <a:ext cx="2788920" cy="338328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7373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2603F"/>
                </a:solidFill>
                <a:latin typeface="Calibri"/>
              </a:rPr>
              <a:t>④ CONVERGE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286000"/>
            <a:ext cx="2514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CE7DC"/>
                </a:solidFill>
                <a:latin typeface="Calibri"/>
              </a:rPr>
              <a:t>Reassign — nothing moves.
Done. That’s the palette.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FD0C7"/>
                </a:solidFill>
                <a:latin typeface="Calibri"/>
              </a:rPr>
              <a:t>Nobody labeled “blue” or “sand.” Distance alone found them. That’s unsupervised.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DO THIS NOW ·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ECE7DC"/>
                </a:solidFill>
                <a:latin typeface="Calibri"/>
              </a:rPr>
              <a:t>Open Chroma Lab in your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solidFill>
            <a:srgbClr val="1A1C19"/>
          </a:solidFill>
          <a:ln w="15875">
            <a:solidFill>
              <a:srgbClr val="F26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4FD0C7"/>
                </a:solidFill>
                <a:latin typeface="Calibri"/>
              </a:rPr>
              <a:t>lemoon01110.github.io/chroma-kmeans-color-lab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1.  Click the link (or type it). Wait for the page to 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2.  Tap a demo photo — or upload one of yours.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3.  Drag K. Watch colors clump. Flip RGB ↔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59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ECE7DC"/>
                </a:solidFill>
                <a:latin typeface="Calibri"/>
              </a:rPr>
              <a:t>4.  Read the palette. Those colors = the markers after Converge.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YOUR TURN · ONLINE · ~10 MIN · WITH A PARTNER (CHAT/BREAKOUT)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CE7DC"/>
                </a:solidFill>
                <a:latin typeface="Calibri"/>
              </a:rPr>
              <a:t>Both of you: stay in Chroma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881360" cy="384048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2603F"/>
                </a:solidFill>
                <a:latin typeface="Calibri"/>
              </a:rPr>
              <a:t>Mission A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ECE7DC"/>
                </a:solidFill>
                <a:latin typeface="Calibri"/>
              </a:rPr>
              <a:t>Lowest K that still looks okay. Write the main colors you see.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4FD0C7"/>
                </a:solidFill>
                <a:latin typeface="Calibri"/>
              </a:rPr>
              <a:t>Mission B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ECE7DC"/>
                </a:solidFill>
                <a:latin typeface="Calibri"/>
              </a:rPr>
              <a:t>Flip RGB ↔ LAB. Same photo, same K — what changed?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5CC47F"/>
                </a:solidFill>
                <a:latin typeface="Calibri"/>
              </a:rPr>
              <a:t>Say it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ECE7DC"/>
                </a:solidFill>
                <a:latin typeface="Calibri"/>
              </a:rPr>
              <a:t>Is this supervised or unsupervised? How do you know? (Hint: were the colors labeled?)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C968A"/>
                </a:solidFill>
                <a:latin typeface="Calibri"/>
              </a:rPr>
              <a:t>WRAP UP · STILL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ECE7DC"/>
                </a:solidFill>
                <a:latin typeface="Calibri"/>
              </a:rPr>
              <a:t>Two models, one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566160" cy="365760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2603F"/>
                </a:solidFill>
                <a:latin typeface="Calibri"/>
              </a:rPr>
              <a:t>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7DC"/>
                </a:solidFill>
                <a:latin typeface="Calibri"/>
              </a:rPr>
              <a:t>Did the data come with answers?
Yes → supervised (KNN)
No → unsupervised (K-Means)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19" y="1828800"/>
            <a:ext cx="3566160" cy="365760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2603F"/>
                </a:solidFill>
                <a:latin typeface="Calibri"/>
              </a:rPr>
              <a:t>TOMORROW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6517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7DC"/>
                </a:solidFill>
                <a:latin typeface="Calibri"/>
              </a:rPr>
              <a:t>Same dots idea — but the machine invents the features. CNNs.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59" y="1828800"/>
            <a:ext cx="3566160" cy="3657600"/>
          </a:xfrm>
          <a:prstGeom prst="rect">
            <a:avLst/>
          </a:prstGeom>
          <a:solidFill>
            <a:srgbClr val="1A1C19"/>
          </a:solidFill>
          <a:ln w="15875">
            <a:solidFill>
              <a:srgbClr val="2C2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205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2603F"/>
                </a:solidFill>
                <a:latin typeface="Calibri"/>
              </a:rPr>
              <a:t>EXIT TICKET (CHAT)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9" y="26517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CE7DC"/>
                </a:solidFill>
                <a:latin typeface="Calibri"/>
              </a:rPr>
              <a:t>Type one sentence:
“How did the computer pick those colors if nobody told it which?”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ONLINE · LAPTOP / CHROMEBOOK · OPENGATE W3D1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C968A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