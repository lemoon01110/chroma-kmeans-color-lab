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OPENGATE · WEEK 3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ECE7DC"/>
                </a:solidFill>
                <a:latin typeface="Georgia"/>
              </a:rPr>
              <a:t>Two kinds of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9C968A"/>
                </a:solidFill>
                <a:latin typeface="Calibri"/>
              </a:rPr>
              <a:t>Your first two machine-learning models —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9C968A"/>
                </a:solidFill>
                <a:latin typeface="Calibri"/>
              </a:rPr>
              <a:t>and the one question that tells them apart.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840480"/>
            <a:ext cx="5303520" cy="16459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023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FD0C7"/>
                </a:solidFill>
                <a:latin typeface="Calibri"/>
              </a:rPr>
              <a:t>Today you will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1. See colors appear with no labels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2. Meet supervised KNN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3. Meet unsupervised K-Means (Chroma Lab)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WEEK 3 ·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One model family a 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2A1612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603F"/>
                </a:solidFill>
                <a:latin typeface="Calibri"/>
              </a:rPr>
              <a:t>DAY 1 · TODAY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Georgia"/>
              </a:rPr>
              <a:t>Two simple models
KNN + K-Means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23317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FD0C7"/>
                </a:solidFill>
                <a:latin typeface="Calibri"/>
              </a:rPr>
              <a:t>DAY 2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Georgia"/>
              </a:rPr>
              <a:t>CNN · 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3317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FD0C7"/>
                </a:solidFill>
                <a:latin typeface="Calibri"/>
              </a:rPr>
              <a:t>DAY 3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Georgia"/>
              </a:rPr>
              <a:t>Embeddings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2103120"/>
            <a:ext cx="2651760" cy="29260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23317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FD0C7"/>
                </a:solidFill>
                <a:latin typeface="Calibri"/>
              </a:rPr>
              <a:t>DAY 4–5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Georgia"/>
              </a:rPr>
              <a:t>Build &amp; present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WATCH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CE7DC"/>
                </a:solidFill>
                <a:latin typeface="Georgia"/>
              </a:rPr>
              <a:t>Where did these colors come from?</a:t>
            </a:r>
          </a:p>
        </p:txBody>
      </p:sp>
      <p:pic>
        <p:nvPicPr>
          <p:cNvPr id="4" name="Picture 3" descr="kmeans-dots-ring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5836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691640"/>
            <a:ext cx="4023360" cy="402336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196596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CE7DC"/>
                </a:solidFill>
                <a:latin typeface="Georgia"/>
              </a:rPr>
              <a:t>“I never told it which colors.
It found them.”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Each dot = one pixel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C968A"/>
                </a:solidFill>
                <a:latin typeface="Calibri"/>
              </a:rPr>
              <a:t>(an RGB recipe: Red, Green, Blue)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Each ring = a color it’s discovering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C968A"/>
                </a:solidFill>
                <a:latin typeface="Calibri"/>
              </a:rPr>
              <a:t>(a “mean” / flag in color space)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2603F"/>
                </a:solidFill>
                <a:latin typeface="Calibri"/>
              </a:rPr>
              <a:t>Hold that mystery — we’ll name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THE POINT OF 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A computer found structure
without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CE7DC"/>
                </a:solidFill>
                <a:latin typeface="Calibri"/>
              </a:rPr>
              <a:t>Nobody labeled “sky blue” or “sand.”</a:t>
            </a:r>
          </a:p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CE7DC"/>
                </a:solidFill>
                <a:latin typeface="Calibri"/>
              </a:rPr>
              <a:t>The program only used distance between pixel colors.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2603F"/>
                </a:solidFill>
                <a:latin typeface="Calibri"/>
              </a:rPr>
              <a:t>That’s a model: a rule learned from data — not typed by a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SO — WHAT IS A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A function you didn’t write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5029200" cy="3200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9C968A"/>
                </a:solidFill>
                <a:latin typeface="Calibri"/>
              </a:rPr>
              <a:t>YOU KNOW THIS</a:t>
            </a:r>
          </a:p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ECE7DC"/>
                </a:solidFill>
                <a:latin typeface="Georgia"/>
              </a:rPr>
              <a:t>f(x) = 2x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Calibri"/>
              </a:rPr>
              <a:t>A human wrote the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011680"/>
            <a:ext cx="5029200" cy="3200400"/>
          </a:xfrm>
          <a:prstGeom prst="roundRect">
            <a:avLst>
              <a:gd name="adj" fmla="val 8000"/>
            </a:avLst>
          </a:prstGeom>
          <a:solidFill>
            <a:srgbClr val="2A1612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2860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2603F"/>
                </a:solidFill>
                <a:latin typeface="Calibri"/>
              </a:rPr>
              <a:t>A MODEL</a:t>
            </a:r>
          </a:p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ECE7DC"/>
                </a:solidFill>
                <a:latin typeface="Georgia"/>
              </a:rPr>
              <a:t>fθ(x) = ?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Calibri"/>
              </a:rPr>
              <a:t>Nobody wrote the full rule —
it tuned its own knobs from examples.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WRITE THIS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CE7DC"/>
                </a:solidFill>
                <a:latin typeface="Georgia"/>
              </a:rPr>
              <a:t>Learned rule, not written rule.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C968A"/>
                </a:solidFill>
                <a:latin typeface="Calibri"/>
              </a:rPr>
              <a:t>If a human typed every if/else, that’s a program.
If data moved the knobs, that’s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WHERE THESE MODELS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Three nested circles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9C968A"/>
                </a:solidFill>
                <a:latin typeface="Georgia"/>
              </a:rPr>
              <a:t>AI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Anything that seems smart.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2603F"/>
                </a:solidFill>
                <a:latin typeface="Georgia"/>
              </a:rPr>
              <a:t>Machine Learning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Learns from data.  ← today is 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8056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4FD0C7"/>
                </a:solidFill>
                <a:latin typeface="Georgia"/>
              </a:rPr>
              <a:t>Deep Learning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Neural nets. Not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TWO KINDS — ONE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E7DC"/>
                </a:solidFill>
                <a:latin typeface="Georgia"/>
              </a:rPr>
              <a:t>“Did the data come with the answers?”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5CC4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5CC47F"/>
                </a:solidFill>
                <a:latin typeface="Calibri"/>
              </a:rPr>
              <a:t>YES → SUPERVISED</a:t>
            </a:r>
          </a:p>
          <a:p>
            <a:pPr algn="l">
              <a:spcAft>
                <a:spcPts val="600"/>
              </a:spcAft>
            </a:pPr>
            <a:r>
              <a:rPr sz="6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Georgia"/>
              </a:rPr>
              <a:t>Labeled examples.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C968A"/>
                </a:solidFill>
                <a:latin typeface="Calibri"/>
              </a:rPr>
              <a:t>Learn to predict the answer.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Example: spam / not spam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5212080" cy="329184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37744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603F"/>
                </a:solidFill>
                <a:latin typeface="Calibri"/>
              </a:rPr>
              <a:t>NO → UNSUPERVISED</a:t>
            </a:r>
          </a:p>
          <a:p>
            <a:pPr algn="l">
              <a:spcAft>
                <a:spcPts val="600"/>
              </a:spcAft>
            </a:pPr>
            <a:r>
              <a:rPr sz="6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Georgia"/>
              </a:rPr>
              <a:t>No answers attached.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C968A"/>
                </a:solidFill>
                <a:latin typeface="Calibri"/>
              </a:rPr>
              <a:t>Find the structure yourself.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Example: discover color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CALL IT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Which kind?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CE7DC"/>
                </a:solidFill>
                <a:latin typeface="Calibri"/>
              </a:rPr>
              <a:t>Spam filter trained on marked emails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73736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5CC4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99339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C47F"/>
                </a:solidFill>
                <a:latin typeface="Calibri"/>
              </a:rPr>
              <a:t>SUPERVISED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44952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CE7DC"/>
                </a:solidFill>
                <a:latin typeface="Calibri"/>
              </a:rPr>
              <a:t>Group shoppers — no categories given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78892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304495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603F"/>
                </a:solidFill>
                <a:latin typeface="Calibri"/>
              </a:rPr>
              <a:t>UNSUPERVISED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CE7DC"/>
                </a:solidFill>
                <a:latin typeface="Calibri"/>
              </a:rPr>
              <a:t>Predict tomorrow’s temp from past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84048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5CC4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409651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C47F"/>
                </a:solidFill>
                <a:latin typeface="Calibri"/>
              </a:rPr>
              <a:t>SUPERVISED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48072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CE7DC"/>
                </a:solidFill>
                <a:latin typeface="Calibri"/>
              </a:rPr>
              <a:t>Sort camera roll into look-alike piles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89204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51480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603F"/>
                </a:solidFill>
                <a:latin typeface="Calibri"/>
              </a:rPr>
              <a:t>UNSUPERVISED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WHAT BOTH MODELS SHARE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Turn things into dots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9C968A"/>
                </a:solidFill>
                <a:latin typeface="Calibri"/>
              </a:rPr>
              <a:t>Close together = similar.   Far apart = different.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FD0C7"/>
                </a:solidFill>
                <a:latin typeface="Calibri"/>
              </a:rPr>
              <a:t>Student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Georgia"/>
              </a:rPr>
              <a:t>→ (hours of sleep, cups of coffee)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C968A"/>
                </a:solidFill>
                <a:latin typeface="Calibri"/>
              </a:rPr>
              <a:t>Two numbers = a point on the floor.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74320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0175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603F"/>
                </a:solidFill>
                <a:latin typeface="Calibri"/>
              </a:rPr>
              <a:t>Pixel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Georgia"/>
              </a:rPr>
              <a:t>→ (R, G, B)</a:t>
            </a:r>
          </a:p>
          <a:p>
            <a:pPr algn="l">
              <a:spcAft>
                <a:spcPts val="600"/>
              </a:spcAft>
            </a:pPr>
            <a:r>
              <a:rPr sz="8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C968A"/>
                </a:solidFill>
                <a:latin typeface="Calibri"/>
              </a:rPr>
              <a:t>Three dials 0–255 = a point in color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CC47F"/>
                </a:solidFill>
                <a:latin typeface="Calibri"/>
              </a:rPr>
              <a:t>MODEL 1 · 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CE7DC"/>
                </a:solidFill>
                <a:latin typeface="Georgia"/>
              </a:rPr>
              <a:t>K-Nearest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C968A"/>
                </a:solidFill>
                <a:latin typeface="Calibri"/>
              </a:rPr>
              <a:t>Let the neighbors vote.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MODEL 1 · 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CE7DC"/>
                </a:solidFill>
                <a:latin typeface="Georgia"/>
              </a:rPr>
              <a:t>KNN — “you are the company you keep”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Calibri"/>
              </a:rPr>
              <a:t>A new dot takes the majority label of its K nearest neighbors.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17520"/>
            <a:ext cx="5212080" cy="22860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603F"/>
                </a:solidFill>
                <a:latin typeface="Georgia"/>
              </a:rPr>
              <a:t>Small K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Calibri"/>
              </a:rPr>
              <a:t>Only the closest few vote.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C968A"/>
                </a:solidFill>
                <a:latin typeface="Calibri"/>
              </a:rPr>
              <a:t>Jumpy — one weird neighbor can flip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017520"/>
            <a:ext cx="5212080" cy="22860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4FD0C7"/>
                </a:solidFill>
                <a:latin typeface="Georgia"/>
              </a:rPr>
              <a:t>Large K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CE7DC"/>
                </a:solidFill>
                <a:latin typeface="Calibri"/>
              </a:rPr>
              <a:t>A wider vote.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C968A"/>
                </a:solidFill>
                <a:latin typeface="Calibri"/>
              </a:rPr>
              <a:t>Smoother — but distant dots get a say.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ACTIVITY · ON YOUR FEET · ~5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KNN in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72800" cy="77724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2140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CE7DC"/>
                </a:solidFill>
                <a:latin typeface="Calibri"/>
              </a:rPr>
              <a:t>1  Two axes on the floor — everyone stand at your dot.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10972800" cy="77724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CE7DC"/>
                </a:solidFill>
                <a:latin typeface="Calibri"/>
              </a:rPr>
              <a:t>2  A new student arrives — nearest neighbors vote.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40"/>
            <a:ext cx="10972800" cy="77724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5020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CE7DC"/>
                </a:solidFill>
                <a:latin typeface="Calibri"/>
              </a:rPr>
              <a:t>3  Widen K, vote again — watch the answer flip.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968A"/>
                </a:solidFill>
                <a:latin typeface="Calibri"/>
              </a:rPr>
              <a:t>In the wild: “Customers like you also bought…”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603F"/>
                </a:solidFill>
                <a:latin typeface="Calibri"/>
              </a:rPr>
              <a:t>MODEL 2 ·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CE7DC"/>
                </a:solidFill>
                <a:latin typeface="Georgia"/>
              </a:rPr>
              <a:t>K-Means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C968A"/>
                </a:solidFill>
                <a:latin typeface="Calibri"/>
              </a:rPr>
              <a:t>Discover the groups. No labels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MODEL 2 ·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K-Means — discover the groups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603F"/>
                </a:solidFill>
                <a:latin typeface="Georgia"/>
              </a:rPr>
              <a:t>1  Guess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ECE7DC"/>
                </a:solidFill>
                <a:latin typeface="Calibri"/>
              </a:rPr>
              <a:t>Drop K markers (flags) at random.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945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603F"/>
                </a:solidFill>
                <a:latin typeface="Georgia"/>
              </a:rPr>
              <a:t>2  Assign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ECE7DC"/>
                </a:solidFill>
                <a:latin typeface="Calibri"/>
              </a:rPr>
              <a:t>Each dot joins its nearest marker.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4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603F"/>
                </a:solidFill>
                <a:latin typeface="Georgia"/>
              </a:rPr>
              <a:t>3  Update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ECE7DC"/>
                </a:solidFill>
                <a:latin typeface="Calibri"/>
              </a:rPr>
              <a:t>Markers slide to the middle of their team.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74904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603F"/>
                </a:solidFill>
                <a:latin typeface="Georgia"/>
              </a:rPr>
              <a:t>4  Converge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ECE7DC"/>
                </a:solidFill>
                <a:latin typeface="Calibri"/>
              </a:rPr>
              <a:t>Repeat 2→3 until they barely move.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WORKED EXAMPLE · 6 PIXELS · K =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E7DC"/>
                </a:solidFill>
                <a:latin typeface="Georgia"/>
              </a:rPr>
              <a:t>K-Means, by hand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78892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14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603F"/>
                </a:solidFill>
                <a:latin typeface="Calibri"/>
              </a:rPr>
              <a:t>① GUESS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CE7DC"/>
                </a:solidFill>
                <a:latin typeface="Calibri"/>
              </a:rPr>
              <a:t>Two markers in dumb spots.
μ₁ (50,50,50)
μ₂ (255,255,255)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78892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514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603F"/>
                </a:solidFill>
                <a:latin typeface="Calibri"/>
              </a:rPr>
              <a:t>② ASSIGN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CE7DC"/>
                </a:solidFill>
                <a:latin typeface="Calibri"/>
              </a:rPr>
              <a:t>Each pixel joins the nearer marker.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828800"/>
            <a:ext cx="278892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2514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603F"/>
                </a:solidFill>
                <a:latin typeface="Calibri"/>
              </a:rPr>
              <a:t>③ UPDATE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CE7DC"/>
                </a:solidFill>
                <a:latin typeface="Calibri"/>
              </a:rPr>
              <a:t>Marker = average of its pixels.
μ₁ (30,60,183)
μ₂ (230,200,123)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81160" y="1828800"/>
            <a:ext cx="278892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2011680"/>
            <a:ext cx="2514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603F"/>
                </a:solidFill>
                <a:latin typeface="Calibri"/>
              </a:rPr>
              <a:t>④ CONVERGE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CE7DC"/>
                </a:solidFill>
                <a:latin typeface="Calibri"/>
              </a:rPr>
              <a:t>Reassign — nothing moves.
Done. That’s the palette.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C968A"/>
                </a:solidFill>
                <a:latin typeface="Calibri"/>
              </a:rPr>
              <a:t>Nobody labeled “blue” or “sand” — distance alone found them. That’s unsupervised.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LIVE TOOL · THE MYSTERY,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CE7DC"/>
                </a:solidFill>
                <a:latin typeface="Georgia"/>
              </a:rPr>
              <a:t>Chroma — K-Means Color 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72800" cy="384048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241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C968A"/>
                </a:solidFill>
                <a:latin typeface="Calibri"/>
              </a:rPr>
              <a:t>Open on your laptop (Slides can’t embed the live site):</a:t>
            </a:r>
          </a:p>
          <a:p>
            <a:pPr algn="l">
              <a:spcAft>
                <a:spcPts val="600"/>
              </a:spcAft>
            </a:pPr>
            <a:r>
              <a:rPr sz="6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2603F"/>
                </a:solidFill>
                <a:latin typeface="Calibri"/>
              </a:rPr>
              <a:t>lemoon01110.github.io/chroma-kmeans-color-lab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Calibri"/>
              </a:rPr>
              <a:t>1  Load a photo (or tap a demo)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Calibri"/>
              </a:rPr>
              <a:t>2  Drag K — watch bands appear / soften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Calibri"/>
              </a:rPr>
              <a:t>3  Flip RGB ↔ LAB — same pixels, different “near”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CE7DC"/>
                </a:solidFill>
                <a:latin typeface="Calibri"/>
              </a:rPr>
              <a:t>4  Read the palette the loop discovered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YOUR TURN · WITH A PARTNER · ~10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Pick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1208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5CC4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5CC47F"/>
                </a:solidFill>
                <a:latin typeface="Georgia"/>
              </a:rPr>
              <a:t>A · KNN</a:t>
            </a:r>
          </a:p>
          <a:p>
            <a:pPr algn="l">
              <a:spcAft>
                <a:spcPts val="600"/>
              </a:spcAft>
            </a:pPr>
            <a:r>
              <a:rPr sz="6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ECE7DC"/>
                </a:solidFill>
                <a:latin typeface="Calibri"/>
              </a:rPr>
              <a:t>Run KNN on the floor.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One sentence: your two features,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and what changed when you widened 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21208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2603F"/>
                </a:solidFill>
                <a:latin typeface="Georgia"/>
              </a:rPr>
              <a:t>B · Chroma Lab</a:t>
            </a:r>
          </a:p>
          <a:p>
            <a:pPr algn="l">
              <a:spcAft>
                <a:spcPts val="600"/>
              </a:spcAft>
            </a:pPr>
            <a:r>
              <a:rPr sz="600" b="0" i="0">
                <a:solidFill>
                  <a:srgbClr val="ECE7D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ECE7DC"/>
                </a:solidFill>
                <a:latin typeface="Calibri"/>
              </a:rPr>
              <a:t>Run the color tool on your photo.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Lowest K that still looks right —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which colors, and why those?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CE7DC"/>
                </a:solidFill>
                <a:latin typeface="Calibri"/>
              </a:rPr>
              <a:t>Then both: supervised or unsupervised? How do you know?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603F"/>
                </a:solidFill>
                <a:latin typeface="Calibr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CE7DC"/>
                </a:solidFill>
                <a:latin typeface="Georgia"/>
              </a:rPr>
              <a:t>Two models, one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6616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FD0C7"/>
                </a:solidFill>
                <a:latin typeface="Calibri"/>
              </a:rPr>
              <a:t>PROJECT SEED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One idea “dots + distance” could power. I’m collecting these for Thursday.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828800"/>
            <a:ext cx="3566160" cy="3474720"/>
          </a:xfrm>
          <a:prstGeom prst="roundRect">
            <a:avLst>
              <a:gd name="adj" fmla="val 8000"/>
            </a:avLst>
          </a:prstGeom>
          <a:solidFill>
            <a:srgbClr val="1A1C19"/>
          </a:solidFill>
          <a:ln w="15875">
            <a:solidFill>
              <a:srgbClr val="2C2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0574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FD0C7"/>
                </a:solidFill>
                <a:latin typeface="Calibri"/>
              </a:rPr>
              <a:t>TOMORROW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Calibri"/>
              </a:rPr>
              <a:t>Same dots — but the machine invents the features. CNNs.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828800"/>
            <a:ext cx="3291840" cy="3474720"/>
          </a:xfrm>
          <a:prstGeom prst="roundRect">
            <a:avLst>
              <a:gd name="adj" fmla="val 8000"/>
            </a:avLst>
          </a:prstGeom>
          <a:solidFill>
            <a:srgbClr val="2A1612"/>
          </a:solidFill>
          <a:ln w="15875">
            <a:solidFill>
              <a:srgbClr val="F26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20574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2603F"/>
                </a:solidFill>
                <a:latin typeface="Calibri"/>
              </a:rPr>
              <a:t>EXIT TICKET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CE7DC"/>
                </a:solidFill>
                <a:latin typeface="Georgia"/>
              </a:rPr>
              <a:t>“How did the computer pick those colors, if nobody told it which?”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968A"/>
                </a:solidFill>
                <a:latin typeface="Calibri"/>
              </a:rPr>
              <a:t>OPENGATE · W3D1 · Two kinds of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968A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